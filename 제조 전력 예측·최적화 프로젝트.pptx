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13232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A8A"/>
                </a:solidFill>
              </a:rPr>
              <a:t>MANUFACTURING POWER ANALYTICS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8580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7324D"/>
                </a:solidFill>
              </a:rPr>
              <a:t>제조 전력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17324D"/>
                </a:solidFill>
              </a:rPr>
              <a:t>예측·최적화 프로젝트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6770"/>
                </a:solidFill>
              </a:rPr>
              <a:t>전력사용량 예측 및 피크저감 최적화 분석 공유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3657600"/>
            <a:ext cx="630936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069080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A8A"/>
                </a:solidFill>
              </a:rPr>
              <a:t>팀 구성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4005072"/>
            <a:ext cx="43891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진민정  데이터 전처리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이소은  전력 예측 모델링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본인  피크 저감 최적화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61320" y="6080760"/>
            <a:ext cx="731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EAAB7"/>
                </a:solidFill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41080" y="1005840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D5DA"/>
                </a:solidFill>
              </a:rPr>
              <a:t>Forecast → Diagnose → Optimize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41080" y="1920240"/>
            <a:ext cx="28346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데이터 기반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피크 리스크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탐색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641080" y="5166360"/>
            <a:ext cx="28346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CE8EC"/>
                </a:solidFill>
              </a:rPr>
              <a:t>분석 결과와 한계를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EC"/>
                </a:solidFill>
              </a:rPr>
              <a:t>함께 공유합니다.</a:t>
            </a:r>
            <a:endParaRPr lang="en-US" sz="1300" dirty="0"/>
          </a:p>
        </p:txBody>
      </p:sp>
      <p:sp>
        <p:nvSpPr>
          <p:cNvPr id="15" name="Rectangle 14"/>
          <p:cNvSpPr/>
          <p:nvPr/>
        </p:nvSpPr>
        <p:spPr>
          <a:xfrm>
            <a:off x="502920" y="5440680"/>
            <a:ext cx="111556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왜 LP(선형계획법)인가: 목표가 피크값(최댓값) 최소화이므로, min z / x_t ≤ z 형태로 자연스럽게 선형화 가능</a:t>
            </a:r>
          </a:p>
          <a:p>
            <a:pPr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왜 안전상한(평균+1.28표준편차)을 제약으로 넣었는가: HGB 예측 오차(MAE 10.16)를 고려해 과소평가 시에도 안전하도록 90% 신뢰구간을 넘지 않게 설계</a:t>
            </a:r>
          </a:p>
          <a:p>
            <a:pPr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왜 전역 피크상한(98백분위)을 추가했는가: 얼마나 깎을지에 대한 전역 목표선을 명확히 두기 위해서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440680"/>
            <a:ext cx="1234440" cy="256032"/>
          </a:xfrm>
          <a:prstGeom prst="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233755"/>
                </a:solidFill>
              </a:rPr>
              <a:t>설계 이유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프로젝트 개요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8A8A"/>
                </a:solidFill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예측 → 오차 분석 → 피크 저감 방안 제안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10515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제조기업 전력사용량을 예측하고, 예측 오차와 운영 가정에 기반해 피크 저감 방안을 검토하는 공모전 프로젝트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429000" cy="2057400"/>
          </a:xfrm>
          <a:prstGeom prst="roundRect">
            <a:avLst>
              <a:gd name="adj" fmla="val 2222"/>
            </a:avLst>
          </a:prstGeom>
          <a:solidFill>
            <a:srgbClr val="EAF3F9"/>
          </a:solidFill>
          <a:ln w="12700">
            <a:solidFill>
              <a:srgbClr val="C5DC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70048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B9A"/>
                </a:solidFill>
              </a:rPr>
              <a:t>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제조 공장 전력 사용 데이터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456432"/>
            <a:ext cx="28346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15분단위 피크전력 · 생산량 · 기온 · 풍속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습도 · 강수량 · 공장인원 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423160"/>
            <a:ext cx="3429000" cy="2057400"/>
          </a:xfrm>
          <a:prstGeom prst="roundRect">
            <a:avLst>
              <a:gd name="adj" fmla="val 2222"/>
            </a:avLst>
          </a:prstGeom>
          <a:solidFill>
            <a:srgbClr val="EAF6EE"/>
          </a:solidFill>
          <a:ln w="12700">
            <a:solidFill>
              <a:srgbClr val="C8E1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670048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8F5B"/>
                </a:solidFill>
              </a:rPr>
              <a:t>PERIOD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2021-01-01 ~ 2021-09-14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총 6,168행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0456" y="2423160"/>
            <a:ext cx="3337560" cy="2057400"/>
          </a:xfrm>
          <a:prstGeom prst="roundRect">
            <a:avLst>
              <a:gd name="adj" fmla="val 2222"/>
            </a:avLst>
          </a:prstGeom>
          <a:solidFill>
            <a:srgbClr val="FFF4E8"/>
          </a:solidFill>
          <a:ln w="12700">
            <a:solidFill>
              <a:srgbClr val="F0D5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2670048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8324"/>
                </a:solidFill>
              </a:rPr>
              <a:t>SPLIT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49056" y="2990088"/>
            <a:ext cx="2651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Train 4,272행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Valid 912행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Test 936행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49056" y="3950208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</a:rPr>
              <a:t>Test: 2021-08-07~09-14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  <p:sp>
        <p:nvSpPr>
          <p:cNvPr id="22" name="Rectangle 21"/>
          <p:cNvSpPr/>
          <p:nvPr/>
        </p:nvSpPr>
        <p:spPr>
          <a:xfrm>
            <a:off x="502920" y="5440680"/>
            <a:ext cx="111556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왜 CP-SAT(정수계획)인가: 80~120%(4% 간격)처럼 이산 후보 집합에서 고르는 문제라 연속 최적화보다 이산 선택 최적화에 적합</a:t>
            </a:r>
          </a:p>
          <a:p>
            <a:pPr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결과가 0%로 나온 의미: 생산량을 바꿔도 HGB가 예측하는 피크가 거의 변하지 않아, 생산량이 피크를 좌우하는 핵심 변수가 아님을 역으로 증명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440680"/>
            <a:ext cx="1234440" cy="256032"/>
          </a:xfrm>
          <a:prstGeom prst="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233755"/>
                </a:solidFill>
              </a:rPr>
              <a:t>설계 이유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예측 모델 성능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8A8A"/>
                </a:solidFill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HGB 기반 전력 예측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HistGradientBoostingRegressor (HGB) · 이소은 담당 · Best_Way.py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2240280" cy="96012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69464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770"/>
                </a:solidFill>
              </a:rPr>
              <a:t>MAE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1965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6B9A"/>
                </a:solidFill>
              </a:rPr>
              <a:t>10.16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063240" y="2423160"/>
            <a:ext cx="2240280" cy="96012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569464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770"/>
                </a:solidFill>
              </a:rPr>
              <a:t>RMSE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816352"/>
            <a:ext cx="1965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8A8A"/>
                </a:solidFill>
              </a:rPr>
              <a:t>14.51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86400" y="2423160"/>
            <a:ext cx="2240280" cy="96012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569464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770"/>
                </a:solidFill>
              </a:rPr>
              <a:t>R²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2816352"/>
            <a:ext cx="1965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A8F5B"/>
                </a:solidFill>
              </a:rPr>
              <a:t>0.94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229600" y="219456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EAF3F9"/>
          </a:solidFill>
          <a:ln w="12700">
            <a:solidFill>
              <a:srgbClr val="C5DC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487168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B9A"/>
                </a:solidFill>
              </a:rPr>
              <a:t>역할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2926080"/>
            <a:ext cx="25146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예측값을 기준선으로 삼아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4가지 피크 저감 최적화를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순차적으로 검토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6770"/>
                </a:solidFill>
              </a:rPr>
              <a:t>모델 성능 자체보다, 예측값을 운영 의사결정에 어떻게 연결할 수 있는지가 핵심 분석 질문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  <p:sp>
        <p:nvSpPr>
          <p:cNvPr id="23" name="Rectangle 22"/>
          <p:cNvSpPr/>
          <p:nvPr/>
        </p:nvSpPr>
        <p:spPr>
          <a:xfrm>
            <a:off x="502920" y="5440680"/>
            <a:ext cx="111556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왜 최근접 이웃 탐색인가: 생산량·날씨가 비슷한 과거 시점을 찾아 그 시점의 운영 방식을 참고하려는 목적</a:t>
            </a:r>
          </a:p>
          <a:p>
            <a:pPr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왜 날씨 조건(기온±3, 습도±10)을 추가했는가: 날씨가 냉난방·설비가동 등 전력사용 패턴에 영향을 줄 수 있다는 가정</a:t>
            </a:r>
          </a:p>
          <a:p>
            <a:pPr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왜 HGB 재검증 단계를 별도로 설계했는가: 과거 실측 피크끼리만 비교하면 착시가 생길 수 있어, 참고 시점의 생산량을 현재 날씨에 대입해 다시 예측해야 진짜 개선인지 판단 가능</a:t>
            </a:r>
          </a:p>
          <a:p>
            <a:pPr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재검증 결과 초기 개선폭(25.75)이 0.43으로 급감하여, 초기 매칭 결과가 계절효과 등으로 인한 가짜 신호였음을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40680"/>
            <a:ext cx="1234440" cy="256032"/>
          </a:xfrm>
          <a:prstGeom prst="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233755"/>
                </a:solidFill>
              </a:rPr>
              <a:t>설계 이유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최적화 방법 개요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8A8A"/>
                </a:solidFill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피크 저감을 위한 4가지 접근을 순서대로 시도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2487168" cy="1874520"/>
          </a:xfrm>
          <a:prstGeom prst="roundRect">
            <a:avLst>
              <a:gd name="adj" fmla="val 2439"/>
            </a:avLst>
          </a:prstGeom>
          <a:solidFill>
            <a:srgbClr val="EAF3F9"/>
          </a:solidFill>
          <a:ln w="12700">
            <a:solidFill>
              <a:srgbClr val="C5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6B9A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전력값 재분배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총생산량 보존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82112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E0E6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56432" y="2240280"/>
            <a:ext cx="2487168" cy="1874520"/>
          </a:xfrm>
          <a:prstGeom prst="roundRect">
            <a:avLst>
              <a:gd name="adj" fmla="val 2439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8A8A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39312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생산량 재배치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39312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±20% · CP-SAT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98464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E0E6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72784" y="2240280"/>
            <a:ext cx="2487168" cy="1874520"/>
          </a:xfrm>
          <a:prstGeom prst="roundRect">
            <a:avLst>
              <a:gd name="adj" fmla="val 2439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8324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55664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매칭 최적화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55664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유사 사례 참조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14816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E0E6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89136" y="2240280"/>
            <a:ext cx="2487168" cy="1874520"/>
          </a:xfrm>
          <a:prstGeom prst="roundRect">
            <a:avLst>
              <a:gd name="adj" fmla="val 2439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16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4A48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72016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안전마진 최적화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72016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Water-filling LP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98348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6770"/>
                </a:solidFill>
              </a:rPr>
              <a:t>각 방법은 “무엇을 바꾸면 피크가 낮아지는가?”를 서로 다른 가정으로 검증한다.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  <p:sp>
        <p:nvSpPr>
          <p:cNvPr id="29" name="Rectangle 28"/>
          <p:cNvSpPr/>
          <p:nvPr/>
        </p:nvSpPr>
        <p:spPr>
          <a:xfrm>
            <a:off x="502920" y="5440680"/>
            <a:ext cx="111556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왜 water-filling 방식인가: 한정된 예산을 더 위험한 시간대에 더 많이 배분하는 통신공학의 원리를 차용해, train에서 과소예측이 심했던 구간에 안전마진을 집중</a:t>
            </a:r>
          </a:p>
          <a:p>
            <a:pPr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왜 LP로 풀었는가: 예산 총합 ≤ budget, 초과분 총합 최소화라는 목적함수가 선형이라 LP로 바로 표현 가능</a:t>
            </a:r>
          </a:p>
          <a:p>
            <a:pPr>
              <a:spcAft>
                <a:spcPts val="0"/>
              </a:spcAft>
              <a:defRPr sz="900">
                <a:solidFill>
                  <a:srgbClr val="2D2D2D"/>
                </a:solidFill>
              </a:defRPr>
            </a:pPr>
            <a:r>
              <a:t>왜 test에서 평탄배분과 비교했는가: train에서의 위험순위가 test에서도 유효한지 검증하는 대조군을 두어, 예산이 커질수록 평탄배분이 더 우수해 과적합을 수치로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440680"/>
            <a:ext cx="1234440" cy="256032"/>
          </a:xfrm>
          <a:prstGeom prst="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233755"/>
                </a:solidFill>
              </a:rPr>
              <a:t>설계 이유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전력값 재분배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8A8A"/>
                </a:solidFill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생산계획은 고정하고, 예측 전력값을 시간대별로 재배열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66928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시간대별 안전상한: 과거 데이터 평균 + 1.28표준편차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전역 피크상한: 98백분위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두 상한 이내에서 LP로 전력값 재분배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총생산량(총합)은 그대로 보존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5160" y="1874520"/>
            <a:ext cx="4526280" cy="2880360"/>
          </a:xfrm>
          <a:prstGeom prst="roundRect">
            <a:avLst>
              <a:gd name="adj" fmla="val 1587"/>
            </a:avLst>
          </a:prstGeom>
          <a:solidFill>
            <a:srgbClr val="EAF6EE"/>
          </a:solidFill>
          <a:ln w="12700">
            <a:solidFill>
              <a:srgbClr val="C8E1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8F5B"/>
                </a:solidFill>
              </a:rPr>
              <a:t>RESULT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2679192"/>
            <a:ext cx="1645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5B6770"/>
                </a:solidFill>
              </a:rPr>
              <a:t>173.08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9070848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8F5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46920" y="2679192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A8F5B"/>
                </a:solidFill>
              </a:rPr>
              <a:t>164.00 kW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31520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피크 감소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3675888"/>
            <a:ext cx="1371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8F5B"/>
                </a:solidFill>
              </a:rPr>
              <a:t>약 5.2%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06840" y="3401568"/>
            <a:ext cx="20116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4개 시도 중 유일하게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수치 개선이 뚜렷함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FF4E8"/>
          </a:solidFill>
          <a:ln w="12700">
            <a:solidFill>
              <a:srgbClr val="F0D5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93792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324"/>
                </a:solidFill>
              </a:rPr>
              <a:t>한계  생산계획과 무관하게 전력값 자체만 재배열하므로 현실 적용성은 낮음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생산량 재배치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8A8A"/>
                </a:solidFill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생산량을 바꾸면 HGB 예측 피크가 낮아지는가?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65836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각 시간 생산량을 80~120% 범위에서 4% 간격 후보로 설정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총생산량은 유지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CP-SAT(정수계획)로 HGB 예측 피크의 상한 초과분 최소화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35240" y="1828800"/>
            <a:ext cx="3840480" cy="2331720"/>
          </a:xfrm>
          <a:prstGeom prst="roundRect">
            <a:avLst>
              <a:gd name="adj" fmla="val 1961"/>
            </a:avLst>
          </a:prstGeom>
          <a:solidFill>
            <a:srgbClr val="FCEEEE"/>
          </a:solidFill>
          <a:ln w="12700">
            <a:solidFill>
              <a:srgbClr val="E9C6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2130552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4A48"/>
                </a:solidFill>
              </a:rPr>
              <a:t>RESULT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0" y="2651760"/>
            <a:ext cx="1828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B94A48"/>
                </a:solidFill>
              </a:rPr>
              <a:t>0%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795528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</a:rPr>
              <a:t>상한초과분 감소율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35640" cy="1097280"/>
          </a:xfrm>
          <a:prstGeom prst="roundRect">
            <a:avLst>
              <a:gd name="adj" fmla="val 4167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A8A"/>
                </a:solidFill>
              </a:rPr>
              <a:t>결론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4718304"/>
            <a:ext cx="9326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생산량을 바꿔도 HGB 예측 피크가 거의 달라지지 않음 → 생산량은 피크의 핵심 변수가 아님을 시사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매칭 최적화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8A8A"/>
                </a:solidFill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유사한 생산량·날씨의 과거 사례를 참조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074920" cy="1600200"/>
          </a:xfrm>
          <a:prstGeom prst="roundRect">
            <a:avLst>
              <a:gd name="adj" fmla="val 2857"/>
            </a:avLst>
          </a:prstGeom>
          <a:solidFill>
            <a:srgbClr val="FFF4E8"/>
          </a:solidFill>
          <a:ln w="12700">
            <a:solidFill>
              <a:srgbClr val="F0D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8324"/>
                </a:solidFill>
              </a:rPr>
              <a:t>1차 결과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643~913건 매칭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</a:rPr>
              <a:t>평균개선 25.75~83.42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1874520"/>
            <a:ext cx="5394960" cy="1600200"/>
          </a:xfrm>
          <a:prstGeom prst="roundRect">
            <a:avLst>
              <a:gd name="adj" fmla="val 2857"/>
            </a:avLst>
          </a:prstGeom>
          <a:solidFill>
            <a:srgbClr val="FCEEEE"/>
          </a:solidFill>
          <a:ln w="12700">
            <a:solidFill>
              <a:srgbClr val="E9C6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4A48"/>
                </a:solidFill>
              </a:rPr>
              <a:t>문제 발견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542032"/>
            <a:ext cx="4389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계절이 다른 시점에 매칭 집중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2999232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여름↔겨울/봄 → 계절효과 의심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EAF3F9"/>
          </a:solidFill>
          <a:ln w="12700">
            <a:solidFill>
              <a:srgbClr val="C5D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6052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B9A"/>
                </a:solidFill>
              </a:rPr>
              <a:t>HGB 재검증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329184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개선사례 24건 (3.7%)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4400" y="4919472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평균개선폭 0.43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3886200"/>
            <a:ext cx="5394960" cy="1417320"/>
          </a:xfrm>
          <a:prstGeom prst="roundRect">
            <a:avLst>
              <a:gd name="adj" fmla="val 3226"/>
            </a:avLst>
          </a:prstGeom>
          <a:solidFill>
            <a:srgbClr val="EAF6EE"/>
          </a:solidFill>
          <a:ln w="12700">
            <a:solidFill>
              <a:srgbClr val="C8E1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160520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8F5B"/>
                </a:solidFill>
              </a:rPr>
              <a:t>결론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4526280"/>
            <a:ext cx="43891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관측변수 외 요인이 원인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4919472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계절 · 설비 운전방식 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안전마진 최적화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8A8A"/>
                </a:solidFill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과소예측 위험을 시간대별 예산으로 배분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58521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train 구간의 과소예측 오차(실제-예측&gt;0)를 24개 시간대에 예산으로 배분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LP로 초과분을 최소화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test 구간에서 평탄배분과 비교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40880" y="1783080"/>
            <a:ext cx="4434840" cy="1920240"/>
          </a:xfrm>
          <a:prstGeom prst="roundRect">
            <a:avLst>
              <a:gd name="adj" fmla="val 2381"/>
            </a:avLst>
          </a:prstGeom>
          <a:solidFill>
            <a:srgbClr val="EAF3F9"/>
          </a:solidFill>
          <a:ln w="12700">
            <a:solidFill>
              <a:srgbClr val="C5DC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B9A"/>
                </a:solidFill>
              </a:rPr>
              <a:t>TEST 결과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예산 0~300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거의 동일 (±0.4%)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40880" y="3977640"/>
            <a:ext cx="4434840" cy="1234440"/>
          </a:xfrm>
          <a:prstGeom prst="roundRect">
            <a:avLst>
              <a:gd name="adj" fmla="val 3704"/>
            </a:avLst>
          </a:prstGeom>
          <a:solidFill>
            <a:srgbClr val="FCEEEE"/>
          </a:solidFill>
          <a:ln w="12700">
            <a:solidFill>
              <a:srgbClr val="E9C6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4A48"/>
                </a:solidFill>
              </a:rPr>
              <a:t>예산 400 이상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4590288"/>
            <a:ext cx="3474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</a:rPr>
              <a:t>평탄배분이 더 우수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</a:rPr>
              <a:t>(개선율 -5%~-19%)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5852160" cy="68580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2700">
            <a:solidFill>
              <a:srgbClr val="F0D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57216"/>
            <a:ext cx="5394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324"/>
                </a:solidFill>
              </a:rPr>
              <a:t>결론  train의 시간대별 위험순위가 test에서 재현되지 않음 → 과적합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종합 결론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8A8A"/>
                </a:solidFill>
              </a:rPr>
              <a:t>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9326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관측된 변수만으로는 피크를 안정적으로 설명하기 어렵다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11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8A8A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유사한 조건에서도 큰 피크 차이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40680" y="1965960"/>
            <a:ext cx="5577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생산량·기온·습도가 비슷해도 피크가 크게 다름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496312"/>
            <a:ext cx="1065276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52344"/>
            <a:ext cx="411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8A8A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시간대만으로 위험 구분 불가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40680" y="2752344"/>
            <a:ext cx="5577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train에서 학습한 시간대 위험순위가 test에서 재현되지 않음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282696"/>
            <a:ext cx="1065276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38728"/>
            <a:ext cx="411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8A8A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538728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숨은 운영 요인이 핵심일 가능성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3538728"/>
            <a:ext cx="5577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설비 운전방식·중복가동·계절적 기기전환 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4069080"/>
            <a:ext cx="1065276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325112"/>
            <a:ext cx="411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8A8A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325112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유일한 수치 개선의 한계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4325112"/>
            <a:ext cx="5577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전력값 재분배는 개선되지만 현실 적용성 제한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855464"/>
            <a:ext cx="1065276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440680"/>
            <a:ext cx="10835640" cy="502920"/>
          </a:xfrm>
          <a:prstGeom prst="roundRect">
            <a:avLst>
              <a:gd name="adj" fmla="val 9091"/>
            </a:avLst>
          </a:prstGeom>
          <a:solidFill>
            <a:srgbClr val="EAF6EE"/>
          </a:solidFill>
          <a:ln w="12700">
            <a:solidFill>
              <a:srgbClr val="C8E1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577840"/>
            <a:ext cx="10332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8F5B"/>
                </a:solidFill>
              </a:rPr>
              <a:t>포지셔닝  분석의 실패가 아니라, 데이터 한계를 실험적으로 증명한 결과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향후 방향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8A8A"/>
                </a:solidFill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8412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다음 분석의 핵심은 “운영 맥락” 데이터 확보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166360" cy="2057400"/>
          </a:xfrm>
          <a:prstGeom prst="roundRect">
            <a:avLst>
              <a:gd name="adj" fmla="val 2222"/>
            </a:avLst>
          </a:prstGeom>
          <a:solidFill>
            <a:srgbClr val="EAF3F9"/>
          </a:solidFill>
          <a:ln w="12700">
            <a:solidFill>
              <a:srgbClr val="C5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B9A"/>
                </a:solidFill>
              </a:rPr>
              <a:t>추가 수집이 필요한 데이터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43891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설비별 운전방식 및 가동 상태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중복가동 여부 / 설비 조합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계절적 기기전환 및 운영 스케줄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5349240" cy="2057400"/>
          </a:xfrm>
          <a:prstGeom prst="roundRect">
            <a:avLst>
              <a:gd name="adj" fmla="val 2222"/>
            </a:avLst>
          </a:prstGeom>
          <a:solidFill>
            <a:srgbClr val="EAF6EE"/>
          </a:solidFill>
          <a:ln w="12700">
            <a:solidFill>
              <a:srgbClr val="C8E1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8F5B"/>
                </a:solidFill>
              </a:rPr>
              <a:t>분석 확장 방향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45720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숨은 운영요인을 반영한 예측모델 재학습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피크 발생 조건별 원인 분해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현실 적용 가능한 제어·운영 시나리오 검토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35640" cy="822960"/>
          </a:xfrm>
          <a:prstGeom prst="roundRect">
            <a:avLst>
              <a:gd name="adj" fmla="val 5556"/>
            </a:avLst>
          </a:prstGeom>
          <a:solidFill>
            <a:srgbClr val="FFF4E8"/>
          </a:solidFill>
          <a:ln w="12700">
            <a:solidFill>
              <a:srgbClr val="F0D5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937760"/>
            <a:ext cx="10241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324"/>
                </a:solidFill>
              </a:rPr>
              <a:t>발표자료 제작은 이 분석 결과 확정 후 진행 예정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제조 전력 예측·최적화 프로젝트</dc:title>
  <dc:subject>제조 전력 예측·최적화 프로젝트</dc:subject>
  <dc:creator>OpenAI</dc:creator>
  <cp:lastModifiedBy>OpenAI</cp:lastModifiedBy>
  <cp:revision>1</cp:revision>
  <dcterms:created xsi:type="dcterms:W3CDTF">2026-10-06T06:24:56Z</dcterms:created>
  <dcterms:modified xsi:type="dcterms:W3CDTF">2026-10-06T06:24:56Z</dcterms:modified>
</cp:coreProperties>
</file>