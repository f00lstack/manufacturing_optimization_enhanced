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4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13232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8A8A"/>
                </a:solidFill>
              </a:rPr>
              <a:t>MANUFACTURING POWER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8580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7324D"/>
                </a:solidFill>
              </a:rPr>
              <a:t>제조 전력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17324D"/>
                </a:solidFill>
              </a:rPr>
              <a:t>예측·최적화 프로젝트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770"/>
                </a:solidFill>
              </a:rPr>
              <a:t>전력사용량 예측 및 피크저감 최적화 분석 공유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3657600"/>
            <a:ext cx="63093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069080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8A8A"/>
                </a:solidFill>
              </a:rPr>
              <a:t>팀 구성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4005072"/>
            <a:ext cx="43891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238"/>
                </a:solidFill>
              </a:rPr>
              <a:t>진민정  데이터 전처리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63238"/>
                </a:solidFill>
              </a:rPr>
              <a:t>이소은  전력 예측 모델링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63238"/>
                </a:solidFill>
              </a:rPr>
              <a:t>본인  피크 저감 최적화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61320" y="6080760"/>
            <a:ext cx="731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EAAB7"/>
                </a:solidFill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41080" y="1005840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D5DA"/>
                </a:solidFill>
              </a:rPr>
              <a:t>Forecast → Diagnose → Optimize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41080" y="1920240"/>
            <a:ext cx="28346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데이터 기반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피크 리스크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</a:rPr>
              <a:t>탐색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641080" y="5166360"/>
            <a:ext cx="28346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CE8EC"/>
                </a:solidFill>
              </a:rPr>
              <a:t>분석 결과와 한계를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CE8EC"/>
                </a:solidFill>
              </a:rPr>
              <a:t>함께 공유합니다.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최적화 방법 개요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88A8A"/>
                </a:solidFill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</a:rPr>
              <a:t>피크 저감을 위한 4가지 접근을 순서대로 시도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487168" cy="1874520"/>
          </a:xfrm>
          <a:prstGeom prst="roundRect">
            <a:avLst>
              <a:gd name="adj" fmla="val 2439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6B9A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24D"/>
                </a:solidFill>
              </a:rPr>
              <a:t>전력값 재분배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770"/>
                </a:solidFill>
              </a:rPr>
              <a:t>총생산량 보존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82112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7E0E6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56432" y="2240280"/>
            <a:ext cx="2487168" cy="1874520"/>
          </a:xfrm>
          <a:prstGeom prst="roundRect">
            <a:avLst>
              <a:gd name="adj" fmla="val 2439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88A8A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9312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24D"/>
                </a:solidFill>
              </a:rPr>
              <a:t>생산량 재배치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39312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770"/>
                </a:solidFill>
              </a:rPr>
              <a:t>±20% · CP-SAT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98464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7E0E6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72784" y="2240280"/>
            <a:ext cx="2487168" cy="1874520"/>
          </a:xfrm>
          <a:prstGeom prst="roundRect">
            <a:avLst>
              <a:gd name="adj" fmla="val 2439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8324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5664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24D"/>
                </a:solidFill>
              </a:rPr>
              <a:t>매칭 최적화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55664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770"/>
                </a:solidFill>
              </a:rPr>
              <a:t>유사 사례 참조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14816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7E0E6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9136" y="2240280"/>
            <a:ext cx="2487168" cy="1874520"/>
          </a:xfrm>
          <a:prstGeom prst="roundRect">
            <a:avLst>
              <a:gd name="adj" fmla="val 2439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4A48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72016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24D"/>
                </a:solidFill>
              </a:rPr>
              <a:t>안전마진 최적화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72016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770"/>
                </a:solidFill>
              </a:rPr>
              <a:t>Water-filling LP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98348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B6770"/>
                </a:solidFill>
              </a:rPr>
              <a:t>각 방법은 “무엇을 바꾸면 피크가 낮아지는가?”를 서로 다른 가정으로 검증한다.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전력값 재분배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88A8A"/>
                </a:solidFill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</a:rPr>
              <a:t>생산계획은 고정하고, 예측 전력값을 시간대별로 재배열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66928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시간대별 안전상한: 과거 데이터 평균 + 1.28표준편차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전역 피크상한: 98백분위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두 상한 이내에서 LP로 전력값 재분배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총생산량(총합)은 그대로 보존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1874520"/>
            <a:ext cx="4526280" cy="2880360"/>
          </a:xfrm>
          <a:prstGeom prst="roundRect">
            <a:avLst>
              <a:gd name="adj" fmla="val 1587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8F5B"/>
                </a:solidFill>
              </a:rPr>
              <a:t>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679192"/>
            <a:ext cx="1645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5B6770"/>
                </a:solidFill>
              </a:rPr>
              <a:t>173.08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9070848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8F5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46920" y="2679192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A8F5B"/>
                </a:solidFill>
              </a:rPr>
              <a:t>164.00 kW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31520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770"/>
                </a:solidFill>
              </a:rPr>
              <a:t>피크 감소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8F5B"/>
                </a:solidFill>
              </a:rPr>
              <a:t>약 5.2%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06840" y="3401568"/>
            <a:ext cx="20116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24D"/>
                </a:solidFill>
              </a:rPr>
              <a:t>4개 시도 중 유일하게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7324D"/>
                </a:solidFill>
              </a:rPr>
              <a:t>수치 개선이 뚜렷함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93792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8324"/>
                </a:solidFill>
              </a:rPr>
              <a:t>한계  생산계획과 무관하게 전력값 자체만 재배열하므로 현실 적용성은 낮음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  <p:sp>
        <p:nvSpPr>
          <p:cNvPr id="20" name="Rounded Rectangle 19"/>
          <p:cNvSpPr/>
          <p:nvPr/>
        </p:nvSpPr>
        <p:spPr>
          <a:xfrm>
            <a:off x="548640" y="5806440"/>
            <a:ext cx="10972800" cy="594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50800" rtlCol="0" anchor="ctr"/>
          <a:lstStyle/>
          <a:p>
            <a:pPr algn="l"/>
            <a:r>
              <a:rPr sz="1400">
                <a:solidFill>
                  <a:srgbClr val="374151"/>
                </a:solidFill>
                <a:latin typeface="Malgun Gothic"/>
              </a:rPr>
              <a:t>설계 이유: 피크(최댓값) 최소화는 LP로 풀 수 있는 전형적 문제이며,
HGB 오차를 고려해 안전상한 이내로만 재분배하도록 제약함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생산량 재배치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88A8A"/>
                </a:solidFill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</a:rPr>
              <a:t>생산량을 바꾸면 HGB 예측 피크가 낮아지는가?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5836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각 시간 생산량을 80~120% 범위에서 4% 간격 후보로 설정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총생산량은 유지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CP-SAT(정수계획)로 HGB 예측 피크의 상한 초과분 최소화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840480" cy="2331720"/>
          </a:xfrm>
          <a:prstGeom prst="roundRect">
            <a:avLst>
              <a:gd name="adj" fmla="val 1961"/>
            </a:avLst>
          </a:prstGeom>
          <a:solidFill>
            <a:srgbClr val="FCEEEE"/>
          </a:solidFill>
          <a:ln w="12700">
            <a:solidFill>
              <a:srgbClr val="E9C6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130552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4A48"/>
                </a:solidFill>
              </a:rPr>
              <a:t>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B94A48"/>
                </a:solidFill>
              </a:rPr>
              <a:t>0%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95528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</a:rPr>
              <a:t>상한초과분 감소율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35640" cy="1097280"/>
          </a:xfrm>
          <a:prstGeom prst="roundRect">
            <a:avLst>
              <a:gd name="adj" fmla="val 4167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8A8A"/>
                </a:solidFill>
              </a:rPr>
              <a:t>결론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4718304"/>
            <a:ext cx="9326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24D"/>
                </a:solidFill>
              </a:rPr>
              <a:t>생산량을 바꿔도 HGB 예측 피크가 거의 달라지지 않음 → 생산량은 피크의 핵심 변수가 아님을 시사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594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50800" rtlCol="0" anchor="ctr"/>
          <a:lstStyle/>
          <a:p>
            <a:pPr algn="l"/>
            <a:r>
              <a:rPr sz="1400">
                <a:solidFill>
                  <a:srgbClr val="374151"/>
                </a:solidFill>
                <a:latin typeface="Malgun Gothic"/>
              </a:rPr>
              <a:t>설계 이유: 생산량 후보(80~120%, 4%단위)처럼 이산 선택지를 다루므로 CP-SAT를 사용함.
개선율 0%는 생산량이 피크의 핵심 변수가 아님을 보여줌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매칭 최적화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88A8A"/>
                </a:solidFill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</a:rPr>
              <a:t>유사한 생산량·날씨의 과거 사례를 참조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600200"/>
          </a:xfrm>
          <a:prstGeom prst="roundRect">
            <a:avLst>
              <a:gd name="adj" fmla="val 2857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8324"/>
                </a:solidFill>
              </a:rPr>
              <a:t>1차 결과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324D"/>
                </a:solidFill>
              </a:rPr>
              <a:t>643~913건 매칭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</a:rPr>
              <a:t>평균개선 25.75~83.42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874520"/>
            <a:ext cx="5394960" cy="1600200"/>
          </a:xfrm>
          <a:prstGeom prst="roundRect">
            <a:avLst>
              <a:gd name="adj" fmla="val 2857"/>
            </a:avLst>
          </a:prstGeom>
          <a:solidFill>
            <a:srgbClr val="FCEEEE"/>
          </a:solidFill>
          <a:ln w="12700">
            <a:solidFill>
              <a:srgbClr val="E9C6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4A48"/>
                </a:solidFill>
              </a:rPr>
              <a:t>문제 발견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542032"/>
            <a:ext cx="4389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24D"/>
                </a:solidFill>
              </a:rPr>
              <a:t>계절이 다른 시점에 매칭 집중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299923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0"/>
                </a:solidFill>
              </a:rPr>
              <a:t>여름↔겨울/봄 → 계절효과 의심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074920" cy="1417320"/>
          </a:xfrm>
          <a:prstGeom prst="roundRect">
            <a:avLst>
              <a:gd name="adj" fmla="val 3226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6052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6B9A"/>
                </a:solidFill>
              </a:rPr>
              <a:t>HGB 재검증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329184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</a:rPr>
              <a:t>개선사례 24건 (3.7%)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400" y="4919472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0"/>
                </a:solidFill>
              </a:rPr>
              <a:t>평균개선폭 0.43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3886200"/>
            <a:ext cx="5394960" cy="1417320"/>
          </a:xfrm>
          <a:prstGeom prst="roundRect">
            <a:avLst>
              <a:gd name="adj" fmla="val 3226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160520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8F5B"/>
                </a:solidFill>
              </a:rPr>
              <a:t>결론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4526280"/>
            <a:ext cx="43891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</a:rPr>
              <a:t>관측변수 외 요인이 원인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4919472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0"/>
                </a:solidFill>
              </a:rPr>
              <a:t>계절 · 설비 운전방식 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0972800" cy="594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50800" rtlCol="0" anchor="ctr"/>
          <a:lstStyle/>
          <a:p>
            <a:pPr algn="l"/>
            <a:r>
              <a:rPr sz="1400">
                <a:solidFill>
                  <a:srgbClr val="374151"/>
                </a:solidFill>
                <a:latin typeface="Malgun Gothic"/>
              </a:rPr>
              <a:t>설계 이유: 단순 실측 비교는 착시 우려가 있어 HGB 재검증을 별도 설계함.
재검증 결과 개선폭이 급감해 초기 결과가 가짜 신호였음을 확인함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안전마진 최적화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88A8A"/>
                </a:solidFill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24D"/>
                </a:solidFill>
              </a:rPr>
              <a:t>과소예측 위험을 시간대별 예산으로 배분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58521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train 구간의 과소예측 오차(실제-예측&gt;0)를 24개 시간대에 예산으로 배분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LP로 초과분을 최소화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test 구간에서 평탄배분과 비교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40880" y="1783080"/>
            <a:ext cx="4434840" cy="1920240"/>
          </a:xfrm>
          <a:prstGeom prst="roundRect">
            <a:avLst>
              <a:gd name="adj" fmla="val 2381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6B9A"/>
                </a:solidFill>
              </a:rPr>
              <a:t>TEST 결과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24D"/>
                </a:solidFill>
              </a:rPr>
              <a:t>예산 0~300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B6770"/>
                </a:solidFill>
              </a:rPr>
              <a:t>거의 동일 (±0.4%)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40880" y="3977640"/>
            <a:ext cx="4434840" cy="1234440"/>
          </a:xfrm>
          <a:prstGeom prst="roundRect">
            <a:avLst>
              <a:gd name="adj" fmla="val 3704"/>
            </a:avLst>
          </a:prstGeom>
          <a:solidFill>
            <a:srgbClr val="FCEEEE"/>
          </a:solidFill>
          <a:ln w="12700">
            <a:solidFill>
              <a:srgbClr val="E9C6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4A48"/>
                </a:solidFill>
              </a:rPr>
              <a:t>예산 400 이상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4590288"/>
            <a:ext cx="3474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</a:rPr>
              <a:t>평탄배분이 더 우수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</a:rPr>
              <a:t>(개선율 -5%~-19%)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5852160" cy="68580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57216"/>
            <a:ext cx="5394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8324"/>
                </a:solidFill>
              </a:rPr>
              <a:t>결론  train의 시간대별 위험순위가 test에서 재현되지 않음 → 과적합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0972800" cy="594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50800" rtlCol="0" anchor="ctr"/>
          <a:lstStyle/>
          <a:p>
            <a:pPr algn="l"/>
            <a:r>
              <a:rPr sz="1400">
                <a:solidFill>
                  <a:srgbClr val="374151"/>
                </a:solidFill>
                <a:latin typeface="Malgun Gothic"/>
              </a:rPr>
              <a:t>설계 이유: 통신공학의 water-filling 기법을 차용해 위험한 시간대에 마진을 더 배분함.
test에서 평탄배분과 비교해 과적합 여부를 수치로 검증함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종합 결론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88A8A"/>
                </a:solidFill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9326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</a:rPr>
              <a:t>관측된 변수만으로는 피크를 안정적으로 설명하기 어렵다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8A8A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24D"/>
                </a:solidFill>
              </a:rPr>
              <a:t>유사한 조건에서도 큰 피크 차이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40680" y="1965960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0"/>
                </a:solidFill>
              </a:rPr>
              <a:t>생산량·기온·습도가 비슷해도 피크가 크게 다름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496312"/>
            <a:ext cx="106527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52344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8A8A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24D"/>
                </a:solidFill>
              </a:rPr>
              <a:t>시간대만으로 위험 구분 불가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2752344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0"/>
                </a:solidFill>
              </a:rPr>
              <a:t>train에서 학습한 시간대 위험순위가 test에서 재현되지 않음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282696"/>
            <a:ext cx="106527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38728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8A8A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24D"/>
                </a:solidFill>
              </a:rPr>
              <a:t>숨은 운영 요인이 핵심일 가능성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538728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0"/>
                </a:solidFill>
              </a:rPr>
              <a:t>설비 운전방식·중복가동·계절적 기기전환 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4069080"/>
            <a:ext cx="106527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325112"/>
            <a:ext cx="411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8A8A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24D"/>
                </a:solidFill>
              </a:rPr>
              <a:t>유일한 수치 개선의 한계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4325112"/>
            <a:ext cx="5577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770"/>
                </a:solidFill>
              </a:rPr>
              <a:t>전력값 재분배는 개선되지만 현실 적용성 제한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855464"/>
            <a:ext cx="1065276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440680"/>
            <a:ext cx="10835640" cy="502920"/>
          </a:xfrm>
          <a:prstGeom prst="roundRect">
            <a:avLst>
              <a:gd name="adj" fmla="val 9091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577840"/>
            <a:ext cx="10332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A8F5B"/>
                </a:solidFill>
              </a:rPr>
              <a:t>포지셔닝  분석의 실패가 아니라, 데이터 한계를 실험적으로 증명한 결과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8A8A"/>
          </a:solidFill>
          <a:ln w="12700">
            <a:solidFill>
              <a:srgbClr val="18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8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향후 방향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292840" y="3840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88A8A"/>
                </a:solidFill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8412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24D"/>
                </a:solidFill>
              </a:rPr>
              <a:t>다음 분석의 핵심은 “운영 맥락” 데이터 확보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166360" cy="2057400"/>
          </a:xfrm>
          <a:prstGeom prst="roundRect">
            <a:avLst>
              <a:gd name="adj" fmla="val 2222"/>
            </a:avLst>
          </a:prstGeom>
          <a:solidFill>
            <a:srgbClr val="EAF3F9"/>
          </a:solidFill>
          <a:ln w="12700">
            <a:solidFill>
              <a:srgbClr val="C5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6B9A"/>
                </a:solidFill>
              </a:rPr>
              <a:t>추가 수집이 필요한 데이터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43891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설비별 운전방식 및 가동 상태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중복가동 여부 / 설비 조합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계절적 기기전환 및 운영 스케줄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5349240" cy="2057400"/>
          </a:xfrm>
          <a:prstGeom prst="roundRect">
            <a:avLst>
              <a:gd name="adj" fmla="val 2222"/>
            </a:avLst>
          </a:prstGeom>
          <a:solidFill>
            <a:srgbClr val="EAF6EE"/>
          </a:solidFill>
          <a:ln w="12700">
            <a:solidFill>
              <a:srgbClr val="C8E1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8F5B"/>
                </a:solidFill>
              </a:rPr>
              <a:t>분석 확장 방향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5720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숨은 운영요인을 반영한 예측모델 재학습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피크 발생 조건별 원인 분해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</a:rPr>
              <a:t>현실 적용 가능한 제어·운영 시나리오 검토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35640" cy="822960"/>
          </a:xfrm>
          <a:prstGeom prst="roundRect">
            <a:avLst>
              <a:gd name="adj" fmla="val 5556"/>
            </a:avLst>
          </a:prstGeom>
          <a:solidFill>
            <a:srgbClr val="FFF4E8"/>
          </a:solidFill>
          <a:ln w="12700">
            <a:solidFill>
              <a:srgbClr val="F0D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37760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324"/>
                </a:solidFill>
              </a:rPr>
              <a:t>발표자료 제작은 이 분석 결과 확정 후 진행 예정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49D"/>
                </a:solidFill>
              </a:rPr>
              <a:t>제조 전력 예측·최적화 프로젝트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와이드스크린</PresentationFormat>
  <Paragraphs>143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제조 전력 예측·최적화 프로젝트</dc:title>
  <dc:subject>제조 전력 예측·최적화 프로젝트</dc:subject>
  <dc:creator>OpenAI</dc:creator>
  <cp:lastModifiedBy>박재혁</cp:lastModifiedBy>
  <cp:revision>2</cp:revision>
  <dcterms:created xsi:type="dcterms:W3CDTF">2026-10-06T06:24:56Z</dcterms:created>
  <dcterms:modified xsi:type="dcterms:W3CDTF">2026-10-06T07:18:57Z</dcterms:modified>
</cp:coreProperties>
</file>